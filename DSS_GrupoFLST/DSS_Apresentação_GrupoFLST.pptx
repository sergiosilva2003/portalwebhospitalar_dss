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91" r:id="rId3"/>
    <p:sldId id="290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4" r:id="rId12"/>
    <p:sldId id="266" r:id="rId13"/>
    <p:sldId id="26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3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F3C78-A987-4395-8844-1EE8E397F001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BD067-FD8D-40C0-8468-CA211026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6801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FD3BC-AED6-FB95-04B1-C0C4ADE39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151A65-0848-39B2-D31F-BEFBC9249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4B17A9-11EC-CCAD-9486-38438AB1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235B35F-DC4D-BFD3-F194-050AE1CE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4504B47-9C2B-A690-568F-982DE676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572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E7765-189C-E6E5-0A46-9C044F1A6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9CCEF47-0CF4-10CA-06A9-1BE11584E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595EA33-E808-0379-3C48-BD33E68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5D573E2-24F3-C104-63B6-D03AFB74B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5B8F2DF-5EDC-4A30-49F8-113A1BAC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507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66154-3A53-F9CF-FEF0-CB1E6449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4CC4CE8-2AB0-99FE-85D0-F8A9D568C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216BD68-722E-24C9-652B-B6ABB056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D61EB45-BF2B-2319-32D6-51D37FD0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70CBD8A-88E2-0A92-307A-07C7E857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873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5CC7E-CC13-C51C-ECAC-ADA5CCA6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1E0B9EB-B6AF-0316-D823-24F349827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A7BEA10-FB37-22C4-B895-DEF21E1D5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BC3BE7E-E1EE-7472-8DD4-0154B91EE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F774664-29A9-36AE-F76A-2D8CDDC8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3542D91-7DB2-BEA8-50B8-7A672AE2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19413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39828-02A4-8A96-E306-7E52DA747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D9FC6AB-494F-C53A-55C6-305944CCB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778A255-0806-9732-9609-374A7C91D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0C9BC9E-36A3-64E9-49C3-E8467980A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8947476B-A64E-30AB-40FC-3181E8813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8693506C-E748-156D-3981-2B663158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D0318749-A5C8-FDE2-BEBA-11C98D21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24A6C62-8997-D3B4-A11A-8563A6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19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49504-A1C1-32D5-2FAB-4D51A08C9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F582FF8A-F1EB-8BA1-B500-36A44BFA4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712E349-D029-FAD2-A921-F58E30CB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F1CECD8-7FE7-8FF8-4DF1-9227652D9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501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12A85F87-4970-AB19-54EF-6A574880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16EEBA9-69CD-F4F5-6083-C7116463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3867A3F-5BBC-2333-2E29-C02D9187E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26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316F0-B079-B387-3704-80498ED45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809CB0A-CF2D-271A-6AFF-FCAA47871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A274AF9-A59F-2604-6945-DE2BCC665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BA3192B-7A8A-0212-6ED6-8F2FCD2A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27DB7DD-FDEC-438A-DC73-857570CE4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FEA2611-EB46-73E3-5796-DC0E6F97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7171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11889-F58A-45C8-1206-122BC0C53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38ED3FC-F7DC-5A11-7225-71C24934A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879F902-C968-3970-BD7B-E54F5D3A4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A7491B5-597D-1420-9734-426099E7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F842FFC-0491-3B10-0D38-8CB02D11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9D8A7A0-90A8-CCF9-FDE4-B434F3A7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7739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B49B2-7287-E10B-1D09-B47F85336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4D53A63-CEE2-CC46-9673-73F1C46DB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3C28E14-E4C6-3847-2B2F-8CEC39D23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F583DAF-6D32-3E97-0FDC-85957C9A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A7FFF22-8E01-E267-DB09-23853BE0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03399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27F8A2-02C7-8849-CAC4-8E12CFA3A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D7784DD-1356-FF5C-1D70-993F66C01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C3C559F-B901-3C05-4083-0A126889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6C3C02E-D898-E4C9-297F-33DAC6754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A657279-E527-A3CE-718E-05B76FDD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7729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42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63170BB8-745D-4686-02BE-9983CBFE5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63377B3-1F9A-783A-4E53-149607AE8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C63F390-3F67-98AE-06F0-796C610CE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18493-BDAB-4C17-A8DB-FA8B2318B9A9}" type="datetimeFigureOut">
              <a:rPr lang="pt-PT" smtClean="0"/>
              <a:t>22/04/2026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17EAA9A-5570-BB51-65BA-64F5DAE2F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0ADE3A8-8CFA-1659-02AC-1BCA94FF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7F119-11AB-414E-A7B6-B406F230D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5027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20" cy="6858000"/>
          </a:xfrm>
          <a:prstGeom prst="rect">
            <a:avLst/>
          </a:prstGeom>
          <a:solidFill>
            <a:srgbClr val="1E4191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3" name="Shape 1"/>
          <p:cNvSpPr/>
          <p:nvPr/>
        </p:nvSpPr>
        <p:spPr>
          <a:xfrm>
            <a:off x="426720" y="0"/>
            <a:ext cx="18288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4" name="Shape 2"/>
          <p:cNvSpPr/>
          <p:nvPr/>
        </p:nvSpPr>
        <p:spPr>
          <a:xfrm>
            <a:off x="9144000" y="4267200"/>
            <a:ext cx="3048000" cy="2590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5" name="Shape 3"/>
          <p:cNvSpPr/>
          <p:nvPr/>
        </p:nvSpPr>
        <p:spPr>
          <a:xfrm>
            <a:off x="10363200" y="0"/>
            <a:ext cx="1828800" cy="6858000"/>
          </a:xfrm>
          <a:prstGeom prst="rect">
            <a:avLst/>
          </a:prstGeom>
          <a:solidFill>
            <a:srgbClr val="1E4191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7" name="Text 5"/>
          <p:cNvSpPr/>
          <p:nvPr/>
        </p:nvSpPr>
        <p:spPr>
          <a:xfrm>
            <a:off x="10018384" y="649224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chemeClr val="bg1"/>
                </a:solidFill>
              </a:rPr>
              <a:t>ISCTE – IUL  |  2025/2026</a:t>
            </a:r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968411"/>
            <a:ext cx="9488816" cy="5937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PT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de Gestão Hospitalar- SQL </a:t>
            </a:r>
            <a:r>
              <a:rPr lang="pt-PT" sz="2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r>
              <a:rPr lang="pt-PT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pt-PT" sz="2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MedPortal</a:t>
            </a:r>
            <a:endParaRPr lang="pt-PT" sz="28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2496" y="3761452"/>
            <a:ext cx="8372464" cy="5937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Prático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36320" y="4172371"/>
            <a:ext cx="7802880" cy="30480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1" name="Text 9"/>
          <p:cNvSpPr/>
          <p:nvPr/>
        </p:nvSpPr>
        <p:spPr>
          <a:xfrm>
            <a:off x="1036320" y="4355251"/>
            <a:ext cx="988113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PT" sz="1400" dirty="0"/>
              <a:t>Filipe Marques, n.º 137559 -Luís Salazar, n.º 140507 - Sérgio Silva, n.º 111052 -Tiago Inácio, n.º 110890</a:t>
            </a:r>
          </a:p>
        </p:txBody>
      </p:sp>
      <p:sp>
        <p:nvSpPr>
          <p:cNvPr id="12" name="Text 10"/>
          <p:cNvSpPr/>
          <p:nvPr/>
        </p:nvSpPr>
        <p:spPr>
          <a:xfrm>
            <a:off x="1036320" y="4842931"/>
            <a:ext cx="4224939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PT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· Desenvolvimento Seguro de Software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3" name="officeArt object">
            <a:extLst>
              <a:ext uri="{FF2B5EF4-FFF2-40B4-BE49-F238E27FC236}">
                <a16:creationId xmlns:a16="http://schemas.microsoft.com/office/drawing/2014/main" id="{F0903588-F1BB-42D5-39CA-F31AD2380F1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3951" y="131644"/>
            <a:ext cx="2693647" cy="131954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FBE260E-8CC2-5161-3614-56B7B96E7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708" y="468820"/>
            <a:ext cx="2170251" cy="220510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70560"/>
            <a:ext cx="792480" cy="79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7424" y="731520"/>
            <a:ext cx="451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DSS · Desenvolvimento Seguro de Software · ISCTE 2025/26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41376" y="1584960"/>
            <a:ext cx="573024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de Gestão Hospitalar- SQL </a:t>
            </a:r>
            <a:r>
              <a:rPr lang="pt-PT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r>
              <a:rPr lang="pt-PT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pt-PT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MedPortal</a:t>
            </a:r>
            <a:endParaRPr lang="pt-PT" sz="360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41376" y="3596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Prática · Vulnerabilidade &amp; Mitigação</a:t>
            </a:r>
            <a:endParaRPr lang="en-US" sz="1867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720" y="365760"/>
            <a:ext cx="5486400" cy="2633472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652272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MedPortal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Portal Web Hospitalar (OWASP 2025)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6522720" y="3718560"/>
            <a:ext cx="5486400" cy="2682240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4" name="Text 10"/>
          <p:cNvSpPr/>
          <p:nvPr/>
        </p:nvSpPr>
        <p:spPr>
          <a:xfrm>
            <a:off x="6705600" y="384048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· A03:2021</a:t>
            </a:r>
            <a:endParaRPr lang="en-US" sz="1467" dirty="0">
              <a:solidFill>
                <a:srgbClr val="FFC000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6705600" y="4328160"/>
            <a:ext cx="5120640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r>
              <a:rPr lang="en-US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3ª vulnerabilidade mais crítica em aplicações web, permitindo a um atacante manipular queries SQL para contornar autenticação e aceder a dados sensíveis.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8">
            <a:extLst>
              <a:ext uri="{FF2B5EF4-FFF2-40B4-BE49-F238E27FC236}">
                <a16:creationId xmlns:a16="http://schemas.microsoft.com/office/drawing/2014/main" id="{E6CDEE87-26AE-DAE3-0EDE-6375B9D4306A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flipH="1">
            <a:off x="-1" y="3474720"/>
            <a:ext cx="4931764" cy="3380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hape 0"/>
          <p:cNvSpPr/>
          <p:nvPr/>
        </p:nvSpPr>
        <p:spPr>
          <a:xfrm>
            <a:off x="487680" y="304800"/>
            <a:ext cx="2438400" cy="365760"/>
          </a:xfrm>
          <a:prstGeom prst="roundRect">
            <a:avLst>
              <a:gd name="adj" fmla="val 16667"/>
            </a:avLst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3" name="Text 1"/>
          <p:cNvSpPr/>
          <p:nvPr/>
        </p:nvSpPr>
        <p:spPr>
          <a:xfrm>
            <a:off x="487680" y="30480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ESTRUTURA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92480"/>
            <a:ext cx="1761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7680" y="1767840"/>
            <a:ext cx="548640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6" name="Shape 4"/>
          <p:cNvSpPr/>
          <p:nvPr/>
        </p:nvSpPr>
        <p:spPr>
          <a:xfrm>
            <a:off x="487680" y="1767840"/>
            <a:ext cx="670560" cy="1341120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7" name="Text 5"/>
          <p:cNvSpPr/>
          <p:nvPr/>
        </p:nvSpPr>
        <p:spPr>
          <a:xfrm>
            <a:off x="487680" y="1767840"/>
            <a:ext cx="6705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1889760"/>
            <a:ext cx="4572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Alvo</a:t>
            </a:r>
          </a:p>
        </p:txBody>
      </p:sp>
      <p:sp>
        <p:nvSpPr>
          <p:cNvPr id="9" name="Text 7"/>
          <p:cNvSpPr/>
          <p:nvPr/>
        </p:nvSpPr>
        <p:spPr>
          <a:xfrm>
            <a:off x="1280160" y="237744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333" dirty="0" err="1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MedPortal</a:t>
            </a:r>
            <a:r>
              <a:rPr lang="pt-PT" sz="1333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arquitetura e </a:t>
            </a:r>
            <a:r>
              <a:rPr lang="pt-PT" sz="1333" dirty="0" err="1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r>
              <a:rPr lang="pt-PT" sz="1333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técnica</a:t>
            </a:r>
          </a:p>
        </p:txBody>
      </p:sp>
      <p:sp>
        <p:nvSpPr>
          <p:cNvPr id="10" name="Shape 8"/>
          <p:cNvSpPr/>
          <p:nvPr/>
        </p:nvSpPr>
        <p:spPr>
          <a:xfrm>
            <a:off x="487680" y="3291840"/>
            <a:ext cx="548640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11" name="Shape 9"/>
          <p:cNvSpPr/>
          <p:nvPr/>
        </p:nvSpPr>
        <p:spPr>
          <a:xfrm>
            <a:off x="487680" y="3291840"/>
            <a:ext cx="670560" cy="1341120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2" name="Text 10"/>
          <p:cNvSpPr/>
          <p:nvPr/>
        </p:nvSpPr>
        <p:spPr>
          <a:xfrm>
            <a:off x="487680" y="3291840"/>
            <a:ext cx="6705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80160" y="3413760"/>
            <a:ext cx="4572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r>
              <a:rPr lang="en-US" sz="17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33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</a:t>
            </a:r>
            <a:endParaRPr lang="en-US" sz="1733" b="1" dirty="0">
              <a:solidFill>
                <a:srgbClr val="0A162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80160" y="390144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no </a:t>
            </a:r>
            <a:r>
              <a:rPr lang="en-US" sz="140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login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7680" y="4815840"/>
            <a:ext cx="548640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16" name="Shape 14"/>
          <p:cNvSpPr/>
          <p:nvPr/>
        </p:nvSpPr>
        <p:spPr>
          <a:xfrm>
            <a:off x="487680" y="4815840"/>
            <a:ext cx="670560" cy="1341120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7" name="Text 15"/>
          <p:cNvSpPr/>
          <p:nvPr/>
        </p:nvSpPr>
        <p:spPr>
          <a:xfrm>
            <a:off x="487680" y="4815840"/>
            <a:ext cx="6705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80160" y="4937760"/>
            <a:ext cx="4572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</a:t>
            </a:r>
            <a:r>
              <a:rPr lang="en-US" sz="1733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Demonstrado</a:t>
            </a:r>
            <a:endParaRPr lang="en-US" sz="1733" b="1" dirty="0">
              <a:solidFill>
                <a:srgbClr val="0A162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80160" y="542544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' OR '1'='1 e </a:t>
            </a:r>
            <a:r>
              <a:rPr lang="en-US" sz="140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indevido</a:t>
            </a: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39840" y="1767840"/>
            <a:ext cx="548640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21" name="Shape 19"/>
          <p:cNvSpPr/>
          <p:nvPr/>
        </p:nvSpPr>
        <p:spPr>
          <a:xfrm>
            <a:off x="6339840" y="1767840"/>
            <a:ext cx="670560" cy="1341120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22" name="Text 20"/>
          <p:cNvSpPr/>
          <p:nvPr/>
        </p:nvSpPr>
        <p:spPr>
          <a:xfrm>
            <a:off x="6339840" y="1767840"/>
            <a:ext cx="6705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04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32320" y="1889760"/>
            <a:ext cx="4572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17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Código</a:t>
            </a:r>
          </a:p>
        </p:txBody>
      </p:sp>
      <p:sp>
        <p:nvSpPr>
          <p:cNvPr id="24" name="Text 22"/>
          <p:cNvSpPr/>
          <p:nvPr/>
        </p:nvSpPr>
        <p:spPr>
          <a:xfrm>
            <a:off x="7132320" y="237744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333" dirty="0" err="1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r>
              <a:rPr lang="pt-PT" sz="1333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vulnerável vs. </a:t>
            </a:r>
            <a:r>
              <a:rPr lang="pt-PT" sz="1333" dirty="0" err="1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r>
              <a:rPr lang="pt-PT" sz="1333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parametrizada</a:t>
            </a:r>
          </a:p>
        </p:txBody>
      </p:sp>
      <p:sp>
        <p:nvSpPr>
          <p:cNvPr id="25" name="Shape 23"/>
          <p:cNvSpPr/>
          <p:nvPr/>
        </p:nvSpPr>
        <p:spPr>
          <a:xfrm>
            <a:off x="6339840" y="3291840"/>
            <a:ext cx="548640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26" name="Shape 24"/>
          <p:cNvSpPr/>
          <p:nvPr/>
        </p:nvSpPr>
        <p:spPr>
          <a:xfrm>
            <a:off x="6339840" y="3291840"/>
            <a:ext cx="670560" cy="1341120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27" name="Text 25"/>
          <p:cNvSpPr/>
          <p:nvPr/>
        </p:nvSpPr>
        <p:spPr>
          <a:xfrm>
            <a:off x="6339840" y="3291840"/>
            <a:ext cx="6705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05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32320" y="3413760"/>
            <a:ext cx="4572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r>
              <a:rPr lang="en-US" sz="17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</a:t>
            </a:r>
            <a:endParaRPr lang="en-US" sz="1733" b="1" dirty="0">
              <a:solidFill>
                <a:srgbClr val="0A162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32320" y="390144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333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Correção, testes SAST/DAST e validação</a:t>
            </a:r>
          </a:p>
        </p:txBody>
      </p:sp>
      <p:sp>
        <p:nvSpPr>
          <p:cNvPr id="30" name="Shape 28"/>
          <p:cNvSpPr/>
          <p:nvPr/>
        </p:nvSpPr>
        <p:spPr>
          <a:xfrm>
            <a:off x="6339840" y="4815840"/>
            <a:ext cx="548640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31" name="Shape 29"/>
          <p:cNvSpPr/>
          <p:nvPr/>
        </p:nvSpPr>
        <p:spPr>
          <a:xfrm>
            <a:off x="6339840" y="4815840"/>
            <a:ext cx="670560" cy="1341120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32" name="Text 30"/>
          <p:cNvSpPr/>
          <p:nvPr/>
        </p:nvSpPr>
        <p:spPr>
          <a:xfrm>
            <a:off x="6339840" y="4815840"/>
            <a:ext cx="6705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06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32320" y="4937760"/>
            <a:ext cx="4572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733" dirty="0"/>
          </a:p>
        </p:txBody>
      </p:sp>
      <p:sp>
        <p:nvSpPr>
          <p:cNvPr id="34" name="Text 32"/>
          <p:cNvSpPr/>
          <p:nvPr/>
        </p:nvSpPr>
        <p:spPr>
          <a:xfrm>
            <a:off x="7132320" y="542544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333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Correção, testes SAST/DAST e validação</a:t>
            </a: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941D73B7-DFD9-2B84-411F-2B0E2D2348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4" t="6027" r="63934" b="81826"/>
          <a:stretch/>
        </p:blipFill>
        <p:spPr>
          <a:xfrm>
            <a:off x="487680" y="1432559"/>
            <a:ext cx="11338560" cy="129921"/>
          </a:xfrm>
          <a:prstGeom prst="rect">
            <a:avLst/>
          </a:prstGeom>
          <a:effectLst>
            <a:reflection blurRad="6350" stA="50000" endA="300" endPos="90000" dist="508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  ·  Sistema Alvo </a:t>
            </a:r>
            <a:r>
              <a:rPr lang="en-US" sz="3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MedPortal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0972800" cy="36576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194" y="1219201"/>
            <a:ext cx="4985406" cy="1933145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010400" y="1280160"/>
            <a:ext cx="4572000" cy="1036320"/>
          </a:xfrm>
          <a:prstGeom prst="rect">
            <a:avLst/>
          </a:prstGeom>
          <a:solidFill>
            <a:srgbClr val="1E4191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6" name="Shape 3"/>
          <p:cNvSpPr/>
          <p:nvPr/>
        </p:nvSpPr>
        <p:spPr>
          <a:xfrm>
            <a:off x="7010400" y="1280160"/>
            <a:ext cx="85344" cy="10363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7" name="Text 4"/>
          <p:cNvSpPr/>
          <p:nvPr/>
        </p:nvSpPr>
        <p:spPr>
          <a:xfrm>
            <a:off x="7254240" y="1341120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Backend</a:t>
            </a:r>
            <a:endParaRPr lang="en-US" sz="1333" dirty="0"/>
          </a:p>
        </p:txBody>
      </p:sp>
      <p:sp>
        <p:nvSpPr>
          <p:cNvPr id="8" name="Text 5"/>
          <p:cNvSpPr/>
          <p:nvPr/>
        </p:nvSpPr>
        <p:spPr>
          <a:xfrm>
            <a:off x="7254240" y="174345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(Python) + SQLite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010400" y="2560320"/>
            <a:ext cx="4572000" cy="1036320"/>
          </a:xfrm>
          <a:prstGeom prst="rect">
            <a:avLst/>
          </a:prstGeom>
          <a:solidFill>
            <a:srgbClr val="1E4191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0" name="Shape 7"/>
          <p:cNvSpPr/>
          <p:nvPr/>
        </p:nvSpPr>
        <p:spPr>
          <a:xfrm>
            <a:off x="7010400" y="2560320"/>
            <a:ext cx="85344" cy="10363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1" name="Text 8"/>
          <p:cNvSpPr/>
          <p:nvPr/>
        </p:nvSpPr>
        <p:spPr>
          <a:xfrm>
            <a:off x="7254240" y="2621280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33" dirty="0"/>
          </a:p>
        </p:txBody>
      </p:sp>
      <p:sp>
        <p:nvSpPr>
          <p:cNvPr id="12" name="Text 9"/>
          <p:cNvSpPr/>
          <p:nvPr/>
        </p:nvSpPr>
        <p:spPr>
          <a:xfrm>
            <a:off x="7254240" y="302361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JWT · Sessão 15min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010400" y="3840480"/>
            <a:ext cx="4572000" cy="1036320"/>
          </a:xfrm>
          <a:prstGeom prst="rect">
            <a:avLst/>
          </a:prstGeom>
          <a:solidFill>
            <a:srgbClr val="1E4191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4" name="Shape 11"/>
          <p:cNvSpPr/>
          <p:nvPr/>
        </p:nvSpPr>
        <p:spPr>
          <a:xfrm>
            <a:off x="7010400" y="3840480"/>
            <a:ext cx="85344" cy="1036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5" name="Text 12"/>
          <p:cNvSpPr/>
          <p:nvPr/>
        </p:nvSpPr>
        <p:spPr>
          <a:xfrm>
            <a:off x="7254240" y="3901440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Utilizadores</a:t>
            </a:r>
            <a:endParaRPr lang="en-US" sz="1333" dirty="0"/>
          </a:p>
        </p:txBody>
      </p:sp>
      <p:sp>
        <p:nvSpPr>
          <p:cNvPr id="16" name="Text 13"/>
          <p:cNvSpPr/>
          <p:nvPr/>
        </p:nvSpPr>
        <p:spPr>
          <a:xfrm>
            <a:off x="7254240" y="430377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Sérgio, Luís, Tiago, Filipe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010400" y="5120640"/>
            <a:ext cx="4572000" cy="1036320"/>
          </a:xfrm>
          <a:prstGeom prst="rect">
            <a:avLst/>
          </a:prstGeom>
          <a:solidFill>
            <a:srgbClr val="1E4191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8" name="Shape 15"/>
          <p:cNvSpPr/>
          <p:nvPr/>
        </p:nvSpPr>
        <p:spPr>
          <a:xfrm>
            <a:off x="7010400" y="5120640"/>
            <a:ext cx="85344" cy="1036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9" name="Text 16"/>
          <p:cNvSpPr/>
          <p:nvPr/>
        </p:nvSpPr>
        <p:spPr>
          <a:xfrm>
            <a:off x="7254240" y="5181600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33" dirty="0"/>
          </a:p>
        </p:txBody>
      </p:sp>
      <p:sp>
        <p:nvSpPr>
          <p:cNvPr id="20" name="Text 17"/>
          <p:cNvSpPr/>
          <p:nvPr/>
        </p:nvSpPr>
        <p:spPr>
          <a:xfrm>
            <a:off x="7254240" y="558393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Hospitalar · OWASP 2025</a:t>
            </a:r>
            <a:endParaRPr lang="en-US" sz="16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66530"/>
            <a:ext cx="6096000" cy="3156191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23" name="Seta: Curvada Para a Direita 22">
            <a:extLst>
              <a:ext uri="{FF2B5EF4-FFF2-40B4-BE49-F238E27FC236}">
                <a16:creationId xmlns:a16="http://schemas.microsoft.com/office/drawing/2014/main" id="{0A0D49C9-73BC-6367-2C1B-9FF3D021C0E9}"/>
              </a:ext>
            </a:extLst>
          </p:cNvPr>
          <p:cNvSpPr/>
          <p:nvPr/>
        </p:nvSpPr>
        <p:spPr>
          <a:xfrm>
            <a:off x="996527" y="2561387"/>
            <a:ext cx="723667" cy="1181918"/>
          </a:xfrm>
          <a:prstGeom prst="curvedRightArrow">
            <a:avLst>
              <a:gd name="adj1" fmla="val 42186"/>
              <a:gd name="adj2" fmla="val 81662"/>
              <a:gd name="adj3" fmla="val 25000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  ·  O Que É SQL Injection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0972800" cy="365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4" name="Shape 2"/>
          <p:cNvSpPr/>
          <p:nvPr/>
        </p:nvSpPr>
        <p:spPr>
          <a:xfrm>
            <a:off x="609600" y="1219200"/>
            <a:ext cx="10972800" cy="1402080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92480" y="1548384"/>
            <a:ext cx="670560" cy="67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80160"/>
            <a:ext cx="9753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ocorre quando dados fornecidos pelo utilizador são inseridos diretamente numa query SQL sem sanitização, permitindo ao atacante alterar a lógica da query, contornar autenticação, extrair dados ou destruir registos.</a:t>
            </a:r>
            <a:endParaRPr lang="en-US" sz="1667" dirty="0"/>
          </a:p>
        </p:txBody>
      </p:sp>
      <p:sp>
        <p:nvSpPr>
          <p:cNvPr id="7" name="Shape 4"/>
          <p:cNvSpPr/>
          <p:nvPr/>
        </p:nvSpPr>
        <p:spPr>
          <a:xfrm>
            <a:off x="609600" y="2865120"/>
            <a:ext cx="3474720" cy="1706880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8" name="Text 5"/>
          <p:cNvSpPr/>
          <p:nvPr/>
        </p:nvSpPr>
        <p:spPr>
          <a:xfrm>
            <a:off x="755904" y="2950464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933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55904" y="3535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Malicioso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55904" y="3962400"/>
            <a:ext cx="316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 insere payload no campo password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4474464" y="2865120"/>
            <a:ext cx="3474720" cy="1706880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4" name="Text 11"/>
          <p:cNvSpPr/>
          <p:nvPr/>
        </p:nvSpPr>
        <p:spPr>
          <a:xfrm>
            <a:off x="4620768" y="2950464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933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4620768" y="3535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Manipulada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20768" y="3962400"/>
            <a:ext cx="316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interpreta o payload como código</a:t>
            </a:r>
            <a:endParaRPr lang="en-US" sz="1333" dirty="0"/>
          </a:p>
        </p:txBody>
      </p:sp>
      <p:sp>
        <p:nvSpPr>
          <p:cNvPr id="19" name="Shape 16"/>
          <p:cNvSpPr/>
          <p:nvPr/>
        </p:nvSpPr>
        <p:spPr>
          <a:xfrm>
            <a:off x="8339328" y="2865120"/>
            <a:ext cx="3243072" cy="1706880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20" name="Text 17"/>
          <p:cNvSpPr/>
          <p:nvPr/>
        </p:nvSpPr>
        <p:spPr>
          <a:xfrm>
            <a:off x="8485632" y="2950464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933" dirty="0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8485632" y="3535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Indevido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485632" y="3962400"/>
            <a:ext cx="316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contornada, dados expostos</a:t>
            </a:r>
            <a:endParaRPr lang="en-US" sz="1333" dirty="0"/>
          </a:p>
        </p:txBody>
      </p:sp>
      <p:sp>
        <p:nvSpPr>
          <p:cNvPr id="23" name="Shape 20"/>
          <p:cNvSpPr/>
          <p:nvPr/>
        </p:nvSpPr>
        <p:spPr>
          <a:xfrm>
            <a:off x="609600" y="4754880"/>
            <a:ext cx="10972800" cy="1828800"/>
          </a:xfrm>
          <a:prstGeom prst="rect">
            <a:avLst/>
          </a:prstGeom>
          <a:solidFill>
            <a:srgbClr val="0A0A0F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24" name="Text 21"/>
          <p:cNvSpPr/>
          <p:nvPr/>
        </p:nvSpPr>
        <p:spPr>
          <a:xfrm>
            <a:off x="792480" y="4852416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VULNERÁVEL</a:t>
            </a:r>
            <a:endParaRPr lang="en-US" sz="1133" dirty="0"/>
          </a:p>
        </p:txBody>
      </p:sp>
      <p:sp>
        <p:nvSpPr>
          <p:cNvPr id="25" name="Text 22"/>
          <p:cNvSpPr/>
          <p:nvPr/>
        </p:nvSpPr>
        <p:spPr>
          <a:xfrm>
            <a:off x="792480" y="5218176"/>
            <a:ext cx="10485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</a:t>
            </a:r>
            <a:r>
              <a:rPr lang="en-US" sz="16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f"SELECT * FROM users WHERE email='{email}' AND password='{password}'"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92480" y="5754624"/>
            <a:ext cx="104851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 payload  ' OR '1'='1   a condição é sempre TRUE - autenticação contornada</a:t>
            </a:r>
            <a:endParaRPr lang="en-US" sz="14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  ·  Demo - Login Legítimo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0972800" cy="36576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19200"/>
            <a:ext cx="5486400" cy="26822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19200"/>
            <a:ext cx="5486400" cy="26822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609600" y="396240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Ecrã de login vazio</a:t>
            </a:r>
            <a:endParaRPr lang="en-US" sz="1267" dirty="0"/>
          </a:p>
        </p:txBody>
      </p:sp>
      <p:sp>
        <p:nvSpPr>
          <p:cNvPr id="7" name="Text 3"/>
          <p:cNvSpPr/>
          <p:nvPr/>
        </p:nvSpPr>
        <p:spPr>
          <a:xfrm>
            <a:off x="6217920" y="396240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credenciais reais do Admin</a:t>
            </a:r>
            <a:endParaRPr lang="en-US" sz="1267" dirty="0"/>
          </a:p>
        </p:txBody>
      </p:sp>
      <p:sp>
        <p:nvSpPr>
          <p:cNvPr id="8" name="Shape 4"/>
          <p:cNvSpPr/>
          <p:nvPr/>
        </p:nvSpPr>
        <p:spPr>
          <a:xfrm>
            <a:off x="609600" y="4389120"/>
            <a:ext cx="10972800" cy="2133600"/>
          </a:xfrm>
          <a:prstGeom prst="rect">
            <a:avLst/>
          </a:prstGeom>
          <a:solidFill>
            <a:schemeClr val="tx1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9" name="Text 5"/>
          <p:cNvSpPr/>
          <p:nvPr/>
        </p:nvSpPr>
        <p:spPr>
          <a:xfrm>
            <a:off x="853440" y="451104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utilizadas no login legítimo</a:t>
            </a:r>
            <a:endParaRPr lang="en-US" sz="1467" dirty="0"/>
          </a:p>
        </p:txBody>
      </p:sp>
      <p:sp>
        <p:nvSpPr>
          <p:cNvPr id="10" name="Text 6"/>
          <p:cNvSpPr/>
          <p:nvPr/>
        </p:nvSpPr>
        <p:spPr>
          <a:xfrm>
            <a:off x="853440" y="499872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</a:t>
            </a:r>
            <a:endParaRPr lang="en-US" sz="1467" dirty="0"/>
          </a:p>
        </p:txBody>
      </p:sp>
      <p:sp>
        <p:nvSpPr>
          <p:cNvPr id="11" name="Text 7"/>
          <p:cNvSpPr/>
          <p:nvPr/>
        </p:nvSpPr>
        <p:spPr>
          <a:xfrm>
            <a:off x="2682240" y="4998720"/>
            <a:ext cx="865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Admin123@webhospitalar.pt</a:t>
            </a:r>
            <a:endParaRPr lang="en-US" sz="1467" dirty="0"/>
          </a:p>
        </p:txBody>
      </p:sp>
      <p:sp>
        <p:nvSpPr>
          <p:cNvPr id="12" name="Text 8"/>
          <p:cNvSpPr/>
          <p:nvPr/>
        </p:nvSpPr>
        <p:spPr>
          <a:xfrm>
            <a:off x="853440" y="542544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</a:t>
            </a:r>
            <a:endParaRPr lang="en-US" sz="1467" dirty="0"/>
          </a:p>
        </p:txBody>
      </p:sp>
      <p:sp>
        <p:nvSpPr>
          <p:cNvPr id="13" name="Text 9"/>
          <p:cNvSpPr/>
          <p:nvPr/>
        </p:nvSpPr>
        <p:spPr>
          <a:xfrm>
            <a:off x="2682240" y="5425440"/>
            <a:ext cx="865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Admin123$%</a:t>
            </a:r>
            <a:endParaRPr lang="en-US" sz="1467" dirty="0"/>
          </a:p>
        </p:txBody>
      </p:sp>
      <p:sp>
        <p:nvSpPr>
          <p:cNvPr id="14" name="Text 10"/>
          <p:cNvSpPr/>
          <p:nvPr/>
        </p:nvSpPr>
        <p:spPr>
          <a:xfrm>
            <a:off x="853440" y="585216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</a:t>
            </a:r>
            <a:endParaRPr lang="en-US" sz="1467" dirty="0"/>
          </a:p>
        </p:txBody>
      </p:sp>
      <p:sp>
        <p:nvSpPr>
          <p:cNvPr id="15" name="Text 11"/>
          <p:cNvSpPr/>
          <p:nvPr/>
        </p:nvSpPr>
        <p:spPr>
          <a:xfrm>
            <a:off x="2682240" y="5852160"/>
            <a:ext cx="865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Acesso concedido — sessão JWT criada</a:t>
            </a:r>
            <a:endParaRPr lang="en-US" sz="146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4191"/>
          </a:solidFill>
          <a:ln w="12700">
            <a:solidFill>
              <a:srgbClr val="1A0505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426720" y="219456"/>
            <a:ext cx="6096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9200" y="11941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Demo - Ataque SQL Injection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6583680" cy="3340608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219200"/>
            <a:ext cx="4511040" cy="3340608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609600" y="4632960"/>
            <a:ext cx="6583680" cy="365760"/>
          </a:xfrm>
          <a:prstGeom prst="rect">
            <a:avLst/>
          </a:prstGeom>
          <a:solidFill>
            <a:srgbClr val="1A0505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8" name="Text 3"/>
          <p:cNvSpPr/>
          <p:nvPr/>
        </p:nvSpPr>
        <p:spPr>
          <a:xfrm>
            <a:off x="792480" y="4657344"/>
            <a:ext cx="62179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 ' OR '1'='1</a:t>
            </a:r>
            <a:endParaRPr lang="en-US" sz="1467" dirty="0"/>
          </a:p>
        </p:txBody>
      </p:sp>
      <p:sp>
        <p:nvSpPr>
          <p:cNvPr id="9" name="Shape 4"/>
          <p:cNvSpPr/>
          <p:nvPr/>
        </p:nvSpPr>
        <p:spPr>
          <a:xfrm>
            <a:off x="7315200" y="4632960"/>
            <a:ext cx="4511040" cy="365760"/>
          </a:xfrm>
          <a:prstGeom prst="rect">
            <a:avLst/>
          </a:prstGeom>
          <a:solidFill>
            <a:srgbClr val="0A1A0A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0" name="Text 5"/>
          <p:cNvSpPr/>
          <p:nvPr/>
        </p:nvSpPr>
        <p:spPr>
          <a:xfrm>
            <a:off x="7498080" y="4657344"/>
            <a:ext cx="41452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 Olá, Admin  ✓</a:t>
            </a:r>
            <a:endParaRPr lang="en-US" sz="1467" dirty="0"/>
          </a:p>
        </p:txBody>
      </p:sp>
      <p:sp>
        <p:nvSpPr>
          <p:cNvPr id="11" name="Shape 6"/>
          <p:cNvSpPr/>
          <p:nvPr/>
        </p:nvSpPr>
        <p:spPr>
          <a:xfrm>
            <a:off x="609600" y="5120640"/>
            <a:ext cx="11216640" cy="1402080"/>
          </a:xfrm>
          <a:prstGeom prst="rect">
            <a:avLst/>
          </a:prstGeom>
          <a:solidFill>
            <a:srgbClr val="10080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2" name="Text 7"/>
          <p:cNvSpPr/>
          <p:nvPr/>
        </p:nvSpPr>
        <p:spPr>
          <a:xfrm>
            <a:off x="853440" y="5218176"/>
            <a:ext cx="10363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o ataque:</a:t>
            </a:r>
            <a:endParaRPr lang="en-US" sz="1467" dirty="0"/>
          </a:p>
        </p:txBody>
      </p:sp>
      <p:sp>
        <p:nvSpPr>
          <p:cNvPr id="13" name="Text 8"/>
          <p:cNvSpPr/>
          <p:nvPr/>
        </p:nvSpPr>
        <p:spPr>
          <a:xfrm>
            <a:off x="853440" y="5608320"/>
            <a:ext cx="1072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email='sqlinjection@sql.injection' AND password='</a:t>
            </a:r>
            <a:r>
              <a:rPr lang="en-US" sz="14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</a:t>
            </a:r>
            <a:r>
              <a:rPr lang="en-US" sz="14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  -  condição sempre TRUE  -  retorna o 1º utilizador da BD (Admin)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9521"/>
          </a:xfrm>
          <a:prstGeom prst="rect">
            <a:avLst/>
          </a:prstGeom>
          <a:solidFill>
            <a:srgbClr val="1E4191"/>
          </a:solidFill>
          <a:ln w="12700">
            <a:solidFill>
              <a:srgbClr val="1A0505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90144" y="195072"/>
            <a:ext cx="585216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8240" y="219456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</a:t>
            </a:r>
            <a:r>
              <a:rPr lang="en-US" sz="28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</a:t>
            </a: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Modificação Massiva de Dados (SQLi UPDATE)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121664"/>
            <a:ext cx="5608320" cy="201168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760" y="1121664"/>
            <a:ext cx="5608320" cy="201168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609600" y="3169920"/>
            <a:ext cx="5608320" cy="341376"/>
          </a:xfrm>
          <a:prstGeom prst="rect">
            <a:avLst/>
          </a:prstGeom>
          <a:solidFill>
            <a:srgbClr val="1A0505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8" name="Text 3"/>
          <p:cNvSpPr/>
          <p:nvPr/>
        </p:nvSpPr>
        <p:spPr>
          <a:xfrm>
            <a:off x="731520" y="3194304"/>
            <a:ext cx="536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 err="1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en-US" sz="1267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'FOI_HACKEADO' · UPDATE em toda a tabela</a:t>
            </a:r>
            <a:endParaRPr lang="en-US" sz="1267" dirty="0"/>
          </a:p>
        </p:txBody>
      </p:sp>
      <p:sp>
        <p:nvSpPr>
          <p:cNvPr id="9" name="Shape 4"/>
          <p:cNvSpPr/>
          <p:nvPr/>
        </p:nvSpPr>
        <p:spPr>
          <a:xfrm>
            <a:off x="6461760" y="3169920"/>
            <a:ext cx="5608320" cy="341376"/>
          </a:xfrm>
          <a:prstGeom prst="rect">
            <a:avLst/>
          </a:prstGeom>
          <a:solidFill>
            <a:srgbClr val="1A0505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0" name="Text 5"/>
          <p:cNvSpPr/>
          <p:nvPr/>
        </p:nvSpPr>
        <p:spPr>
          <a:xfrm>
            <a:off x="6583680" y="3194304"/>
            <a:ext cx="536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=&gt; 'nota20' · "Comando enviado ao servidor!"</a:t>
            </a:r>
            <a:endParaRPr lang="en-US" sz="1267" dirty="0"/>
          </a:p>
        </p:txBody>
      </p:sp>
      <p:sp>
        <p:nvSpPr>
          <p:cNvPr id="11" name="Text 6"/>
          <p:cNvSpPr/>
          <p:nvPr/>
        </p:nvSpPr>
        <p:spPr>
          <a:xfrm>
            <a:off x="609600" y="3657600"/>
            <a:ext cx="5608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DADOS — ANTES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61760" y="3657600"/>
            <a:ext cx="5608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DADOS — DEPOIS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023360"/>
            <a:ext cx="5608320" cy="188976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760" y="4023360"/>
            <a:ext cx="5608320" cy="188976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5" name="Shape 8"/>
          <p:cNvSpPr/>
          <p:nvPr/>
        </p:nvSpPr>
        <p:spPr>
          <a:xfrm>
            <a:off x="609600" y="6035040"/>
            <a:ext cx="10972800" cy="609600"/>
          </a:xfrm>
          <a:prstGeom prst="rect">
            <a:avLst/>
          </a:prstGeom>
          <a:solidFill>
            <a:srgbClr val="1A0505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6" name="Text 9"/>
          <p:cNvSpPr/>
          <p:nvPr/>
        </p:nvSpPr>
        <p:spPr>
          <a:xfrm>
            <a:off x="853440" y="6083808"/>
            <a:ext cx="1048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Todos os 5 utilizadores com nome='Hacker' e password='nota20’ - comprometimento total da base de dados em 1 payload.</a:t>
            </a:r>
            <a:endParaRPr lang="en-US" sz="14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99744"/>
          </a:xfrm>
          <a:prstGeom prst="rect">
            <a:avLst/>
          </a:prstGeom>
          <a:solidFill>
            <a:srgbClr val="1E4191"/>
          </a:solidFill>
          <a:ln w="12700">
            <a:solidFill>
              <a:srgbClr val="051005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90144" y="195072"/>
            <a:ext cx="585216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8240" y="219456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</a:t>
            </a:r>
            <a:r>
              <a:rPr lang="en-US" sz="2933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r>
              <a:rPr lang="en-US" sz="29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Dois Ataques Demonstrados</a:t>
            </a:r>
            <a:endParaRPr lang="en-US" sz="2933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09600" y="1194816"/>
            <a:ext cx="10972800" cy="2499360"/>
          </a:xfrm>
          <a:prstGeom prst="rect">
            <a:avLst/>
          </a:prstGeom>
          <a:solidFill>
            <a:srgbClr val="1B2A3B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6" name="Shape 3"/>
          <p:cNvSpPr/>
          <p:nvPr/>
        </p:nvSpPr>
        <p:spPr>
          <a:xfrm>
            <a:off x="609600" y="1194816"/>
            <a:ext cx="121920" cy="2499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7" name="Text 4"/>
          <p:cNvSpPr/>
          <p:nvPr/>
        </p:nvSpPr>
        <p:spPr>
          <a:xfrm>
            <a:off x="914400" y="1292352"/>
            <a:ext cx="10363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1  ·  Auth Bypass (Login)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1828800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</a:t>
            </a:r>
            <a:endParaRPr lang="en-US" sz="1333" dirty="0"/>
          </a:p>
        </p:txBody>
      </p:sp>
      <p:sp>
        <p:nvSpPr>
          <p:cNvPr id="9" name="Text 6"/>
          <p:cNvSpPr/>
          <p:nvPr/>
        </p:nvSpPr>
        <p:spPr>
          <a:xfrm>
            <a:off x="2292096" y="1828800"/>
            <a:ext cx="9022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</a:t>
            </a:r>
            <a:endParaRPr lang="en-US" sz="1333" dirty="0"/>
          </a:p>
        </p:txBody>
      </p:sp>
      <p:sp>
        <p:nvSpPr>
          <p:cNvPr id="10" name="Text 7"/>
          <p:cNvSpPr/>
          <p:nvPr/>
        </p:nvSpPr>
        <p:spPr>
          <a:xfrm>
            <a:off x="914400" y="2218944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Vetor:</a:t>
            </a:r>
            <a:endParaRPr lang="en-US" sz="1333" dirty="0"/>
          </a:p>
        </p:txBody>
      </p:sp>
      <p:sp>
        <p:nvSpPr>
          <p:cNvPr id="11" name="Text 8"/>
          <p:cNvSpPr/>
          <p:nvPr/>
        </p:nvSpPr>
        <p:spPr>
          <a:xfrm>
            <a:off x="2292096" y="2218944"/>
            <a:ext cx="9022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password no login</a:t>
            </a:r>
            <a:endParaRPr lang="en-US" sz="1333" dirty="0"/>
          </a:p>
        </p:txBody>
      </p:sp>
      <p:sp>
        <p:nvSpPr>
          <p:cNvPr id="12" name="Text 9"/>
          <p:cNvSpPr/>
          <p:nvPr/>
        </p:nvSpPr>
        <p:spPr>
          <a:xfrm>
            <a:off x="914400" y="2584704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2535936" y="2584704"/>
            <a:ext cx="8778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como Admin sem credenciais válidas</a:t>
            </a:r>
            <a:endParaRPr lang="en-US" sz="1333" dirty="0"/>
          </a:p>
        </p:txBody>
      </p:sp>
      <p:sp>
        <p:nvSpPr>
          <p:cNvPr id="14" name="Text 11"/>
          <p:cNvSpPr/>
          <p:nvPr/>
        </p:nvSpPr>
        <p:spPr>
          <a:xfrm>
            <a:off x="914400" y="3169920"/>
            <a:ext cx="146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Impacto: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2438400" y="3169920"/>
            <a:ext cx="8900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— Confidencialidade — acesso indevido ao sistema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9600" y="3998976"/>
            <a:ext cx="10972800" cy="2499360"/>
          </a:xfrm>
          <a:prstGeom prst="rect">
            <a:avLst/>
          </a:prstGeom>
          <a:solidFill>
            <a:srgbClr val="1B2A3B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7" name="Shape 14"/>
          <p:cNvSpPr/>
          <p:nvPr/>
        </p:nvSpPr>
        <p:spPr>
          <a:xfrm>
            <a:off x="609600" y="3998976"/>
            <a:ext cx="121920" cy="2499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8" name="Text 15"/>
          <p:cNvSpPr/>
          <p:nvPr/>
        </p:nvSpPr>
        <p:spPr>
          <a:xfrm>
            <a:off x="914400" y="4096512"/>
            <a:ext cx="10363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2  ·  SQLi UPDATE - Modificação Massiva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14400" y="4632960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</a:t>
            </a:r>
            <a:endParaRPr lang="en-US" sz="1333" dirty="0"/>
          </a:p>
        </p:txBody>
      </p:sp>
      <p:sp>
        <p:nvSpPr>
          <p:cNvPr id="20" name="Text 17"/>
          <p:cNvSpPr/>
          <p:nvPr/>
        </p:nvSpPr>
        <p:spPr>
          <a:xfrm>
            <a:off x="2292096" y="4632960"/>
            <a:ext cx="9022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Hacker'; UPDATE accounts_paciente SET nome='Hacker', password='nota20' WHERE '1'='1--</a:t>
            </a:r>
            <a:endParaRPr lang="en-US" sz="1333" dirty="0"/>
          </a:p>
        </p:txBody>
      </p:sp>
      <p:sp>
        <p:nvSpPr>
          <p:cNvPr id="21" name="Text 18"/>
          <p:cNvSpPr/>
          <p:nvPr/>
        </p:nvSpPr>
        <p:spPr>
          <a:xfrm>
            <a:off x="914400" y="5023104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Vetor:</a:t>
            </a:r>
            <a:endParaRPr lang="en-US" sz="1333" dirty="0"/>
          </a:p>
        </p:txBody>
      </p:sp>
      <p:sp>
        <p:nvSpPr>
          <p:cNvPr id="22" name="Text 19"/>
          <p:cNvSpPr/>
          <p:nvPr/>
        </p:nvSpPr>
        <p:spPr>
          <a:xfrm>
            <a:off x="2292096" y="5023104"/>
            <a:ext cx="9022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nome no perfil (edição de dados pessoais)</a:t>
            </a:r>
            <a:endParaRPr lang="en-US" sz="1333" dirty="0"/>
          </a:p>
        </p:txBody>
      </p:sp>
      <p:sp>
        <p:nvSpPr>
          <p:cNvPr id="23" name="Text 20"/>
          <p:cNvSpPr/>
          <p:nvPr/>
        </p:nvSpPr>
        <p:spPr>
          <a:xfrm>
            <a:off x="914400" y="5388864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</a:t>
            </a:r>
            <a:endParaRPr lang="en-US" sz="1333" dirty="0"/>
          </a:p>
        </p:txBody>
      </p:sp>
      <p:sp>
        <p:nvSpPr>
          <p:cNvPr id="24" name="Text 21"/>
          <p:cNvSpPr/>
          <p:nvPr/>
        </p:nvSpPr>
        <p:spPr>
          <a:xfrm>
            <a:off x="2535936" y="5388864"/>
            <a:ext cx="8778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utilizadores com nome='Hacker' e password='nota20'</a:t>
            </a:r>
            <a:endParaRPr lang="en-US" sz="1333" dirty="0"/>
          </a:p>
        </p:txBody>
      </p:sp>
      <p:sp>
        <p:nvSpPr>
          <p:cNvPr id="25" name="Text 22"/>
          <p:cNvSpPr/>
          <p:nvPr/>
        </p:nvSpPr>
        <p:spPr>
          <a:xfrm>
            <a:off x="914400" y="5974080"/>
            <a:ext cx="146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Impacto:</a:t>
            </a:r>
            <a:endParaRPr lang="en-US" sz="1333" dirty="0"/>
          </a:p>
        </p:txBody>
      </p:sp>
      <p:sp>
        <p:nvSpPr>
          <p:cNvPr id="26" name="Text 23"/>
          <p:cNvSpPr/>
          <p:nvPr/>
        </p:nvSpPr>
        <p:spPr>
          <a:xfrm>
            <a:off x="2438400" y="5974080"/>
            <a:ext cx="8900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— Integridade + </a:t>
            </a:r>
            <a:r>
              <a:rPr lang="en-US" sz="1400" b="1" dirty="0" err="1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comprometimento total da BD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  ·  Código Vulnerável vs. Código Seguro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09728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4" name="Shape 2"/>
          <p:cNvSpPr/>
          <p:nvPr/>
        </p:nvSpPr>
        <p:spPr>
          <a:xfrm>
            <a:off x="609600" y="1194816"/>
            <a:ext cx="5364480" cy="3108960"/>
          </a:xfrm>
          <a:prstGeom prst="rect">
            <a:avLst/>
          </a:prstGeom>
          <a:solidFill>
            <a:srgbClr val="0A080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5" name="Shape 3"/>
          <p:cNvSpPr/>
          <p:nvPr/>
        </p:nvSpPr>
        <p:spPr>
          <a:xfrm>
            <a:off x="609600" y="1194816"/>
            <a:ext cx="5364480" cy="463296"/>
          </a:xfrm>
          <a:prstGeom prst="rect">
            <a:avLst/>
          </a:prstGeom>
          <a:solidFill>
            <a:srgbClr val="2A0808"/>
          </a:solidFill>
          <a:ln w="12700">
            <a:solidFill>
              <a:srgbClr val="2A0808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6" name="Text 4"/>
          <p:cNvSpPr/>
          <p:nvPr/>
        </p:nvSpPr>
        <p:spPr>
          <a:xfrm>
            <a:off x="792480" y="1231392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views.py — VULNERÁVEL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792480" y="1731264"/>
            <a:ext cx="499872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= data.get('email')</a:t>
            </a:r>
            <a:endParaRPr lang="en-US" sz="1400" dirty="0"/>
          </a:p>
          <a:p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= data.get('password')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f"""</a:t>
            </a:r>
            <a:endParaRPr lang="en-US" sz="1400" dirty="0"/>
          </a:p>
          <a:p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 FROM accounts_paciente</a:t>
            </a:r>
            <a:endParaRPr lang="en-US" sz="1400" dirty="0"/>
          </a:p>
          <a:p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email='{email}'</a:t>
            </a:r>
            <a:endParaRPr lang="en-US" sz="1400" dirty="0"/>
          </a:p>
          <a:p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password='{password}'</a:t>
            </a:r>
            <a:endParaRPr lang="en-US" sz="1400" dirty="0"/>
          </a:p>
          <a:p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400" dirty="0"/>
          </a:p>
          <a:p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cursor.execute(query)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194816"/>
            <a:ext cx="5364480" cy="3108960"/>
          </a:xfrm>
          <a:prstGeom prst="rect">
            <a:avLst/>
          </a:prstGeom>
          <a:solidFill>
            <a:srgbClr val="050A05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9" name="Shape 7"/>
          <p:cNvSpPr/>
          <p:nvPr/>
        </p:nvSpPr>
        <p:spPr>
          <a:xfrm>
            <a:off x="6217920" y="1194816"/>
            <a:ext cx="5364480" cy="463296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0" name="Text 8"/>
          <p:cNvSpPr/>
          <p:nvPr/>
        </p:nvSpPr>
        <p:spPr>
          <a:xfrm>
            <a:off x="6400800" y="1231392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views.py — CORRIGIDO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400800" y="1731264"/>
            <a:ext cx="499872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= data.get('email')</a:t>
            </a:r>
            <a:endParaRPr lang="en-US" sz="1400" dirty="0"/>
          </a:p>
          <a:p>
            <a:r>
              <a:rPr lang="en-US" sz="14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= data.get('password')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Query parametrizada — ORM Django</a:t>
            </a:r>
            <a:endParaRPr lang="en-US" sz="1400" dirty="0"/>
          </a:p>
          <a:p>
            <a:r>
              <a:rPr lang="en-US" sz="14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Paciente.objects.filter(</a:t>
            </a:r>
            <a:endParaRPr lang="en-US" sz="1400" dirty="0"/>
          </a:p>
          <a:p>
            <a:r>
              <a:rPr lang="en-US" sz="14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email=email,</a:t>
            </a:r>
            <a:endParaRPr lang="en-US" sz="1400" dirty="0"/>
          </a:p>
          <a:p>
            <a:r>
              <a:rPr lang="en-US" sz="14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password=password</a:t>
            </a:r>
            <a:endParaRPr lang="en-US" sz="1400" dirty="0"/>
          </a:p>
          <a:p>
            <a:r>
              <a:rPr lang="en-US" sz="14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).first()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 não é interpolado na query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11243" y="4376928"/>
            <a:ext cx="70851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do views.py real do </a:t>
            </a:r>
            <a:r>
              <a:rPr lang="en-US" sz="1467" i="1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r>
              <a:rPr lang="en-US" sz="1467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código vulnerável e correção ]</a:t>
            </a:r>
            <a:endParaRPr lang="en-US" sz="146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1E4191"/>
          </a:solidFill>
          <a:ln w="12700">
            <a:solidFill>
              <a:srgbClr val="051005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426720" y="219456"/>
            <a:ext cx="6096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9200" y="24384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Mitigação Aplicada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09600" y="1280160"/>
            <a:ext cx="5486400" cy="2072640"/>
          </a:xfrm>
          <a:prstGeom prst="rect">
            <a:avLst/>
          </a:prstGeom>
          <a:solidFill>
            <a:srgbClr val="1E4191"/>
          </a:solidFill>
          <a:ln w="12700">
            <a:solidFill>
              <a:srgbClr val="2DC65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6" name="Shape 3"/>
          <p:cNvSpPr/>
          <p:nvPr/>
        </p:nvSpPr>
        <p:spPr>
          <a:xfrm>
            <a:off x="609600" y="1280160"/>
            <a:ext cx="97536" cy="20726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5303520" y="1463040"/>
            <a:ext cx="585216" cy="585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3440" y="1402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Parametrizadas / ORM</a:t>
            </a:r>
            <a:endParaRPr lang="en-US" sz="1733" dirty="0"/>
          </a:p>
        </p:txBody>
      </p:sp>
      <p:sp>
        <p:nvSpPr>
          <p:cNvPr id="9" name="Text 5"/>
          <p:cNvSpPr/>
          <p:nvPr/>
        </p:nvSpPr>
        <p:spPr>
          <a:xfrm>
            <a:off x="853440" y="1987296"/>
            <a:ext cx="5059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impede interpolação directa de input na query SQL. O valor é sempre tratado como dado, nunca como código.</a:t>
            </a:r>
            <a:endParaRPr lang="en-US" sz="1467" dirty="0"/>
          </a:p>
        </p:txBody>
      </p:sp>
      <p:sp>
        <p:nvSpPr>
          <p:cNvPr id="10" name="Shape 6"/>
          <p:cNvSpPr/>
          <p:nvPr/>
        </p:nvSpPr>
        <p:spPr>
          <a:xfrm>
            <a:off x="6400800" y="1280160"/>
            <a:ext cx="5486400" cy="2072640"/>
          </a:xfrm>
          <a:prstGeom prst="rect">
            <a:avLst/>
          </a:prstGeom>
          <a:solidFill>
            <a:srgbClr val="1E4191"/>
          </a:solidFill>
          <a:ln w="12700">
            <a:solidFill>
              <a:srgbClr val="457B9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11" name="Shape 7"/>
          <p:cNvSpPr/>
          <p:nvPr/>
        </p:nvSpPr>
        <p:spPr>
          <a:xfrm>
            <a:off x="6400800" y="1280160"/>
            <a:ext cx="97536" cy="2072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11094720" y="1463040"/>
            <a:ext cx="585216" cy="585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44640" y="1402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&amp; Sanitização de Input</a:t>
            </a:r>
            <a:endParaRPr lang="en-US" sz="1733" dirty="0"/>
          </a:p>
        </p:txBody>
      </p:sp>
      <p:sp>
        <p:nvSpPr>
          <p:cNvPr id="14" name="Text 9"/>
          <p:cNvSpPr/>
          <p:nvPr/>
        </p:nvSpPr>
        <p:spPr>
          <a:xfrm>
            <a:off x="6644640" y="1987296"/>
            <a:ext cx="5059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do formato de email e comprimento de password antes de chegar à camada de dados.</a:t>
            </a:r>
            <a:endParaRPr lang="en-US" sz="1467" dirty="0"/>
          </a:p>
        </p:txBody>
      </p:sp>
      <p:sp>
        <p:nvSpPr>
          <p:cNvPr id="15" name="Shape 10"/>
          <p:cNvSpPr/>
          <p:nvPr/>
        </p:nvSpPr>
        <p:spPr>
          <a:xfrm>
            <a:off x="609600" y="3657600"/>
            <a:ext cx="5486400" cy="2072640"/>
          </a:xfrm>
          <a:prstGeom prst="rect">
            <a:avLst/>
          </a:prstGeom>
          <a:solidFill>
            <a:srgbClr val="1E4191"/>
          </a:solidFill>
          <a:ln w="12700">
            <a:solidFill>
              <a:srgbClr val="457B9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PT" sz="2400" dirty="0"/>
          </a:p>
        </p:txBody>
      </p:sp>
      <p:sp>
        <p:nvSpPr>
          <p:cNvPr id="16" name="Shape 11"/>
          <p:cNvSpPr/>
          <p:nvPr/>
        </p:nvSpPr>
        <p:spPr>
          <a:xfrm>
            <a:off x="609600" y="3657600"/>
            <a:ext cx="97536" cy="20726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5303520" y="3840480"/>
            <a:ext cx="585216" cy="5852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3440" y="3779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Reforçada (JWT)</a:t>
            </a:r>
            <a:endParaRPr lang="en-US" sz="1733" dirty="0"/>
          </a:p>
        </p:txBody>
      </p:sp>
      <p:sp>
        <p:nvSpPr>
          <p:cNvPr id="19" name="Text 13"/>
          <p:cNvSpPr/>
          <p:nvPr/>
        </p:nvSpPr>
        <p:spPr>
          <a:xfrm>
            <a:off x="853440" y="4364736"/>
            <a:ext cx="5059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com expiração de 15 minutos. Tokens assinados impedem falsificação de identidade.</a:t>
            </a:r>
            <a:endParaRPr lang="en-US" sz="1467" dirty="0"/>
          </a:p>
        </p:txBody>
      </p:sp>
      <p:sp>
        <p:nvSpPr>
          <p:cNvPr id="20" name="Shape 14"/>
          <p:cNvSpPr/>
          <p:nvPr/>
        </p:nvSpPr>
        <p:spPr>
          <a:xfrm>
            <a:off x="6400800" y="3657600"/>
            <a:ext cx="5486400" cy="2072640"/>
          </a:xfrm>
          <a:prstGeom prst="rect">
            <a:avLst/>
          </a:prstGeom>
          <a:solidFill>
            <a:srgbClr val="1E4191"/>
          </a:solidFill>
          <a:ln w="1270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21" name="Shape 15"/>
          <p:cNvSpPr/>
          <p:nvPr/>
        </p:nvSpPr>
        <p:spPr>
          <a:xfrm>
            <a:off x="6400800" y="3657600"/>
            <a:ext cx="97536" cy="2072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11094720" y="3840480"/>
            <a:ext cx="585216" cy="5852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44640" y="3779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/ DAST no Pipeline</a:t>
            </a:r>
            <a:endParaRPr lang="en-US" sz="1733" dirty="0"/>
          </a:p>
        </p:txBody>
      </p:sp>
      <p:sp>
        <p:nvSpPr>
          <p:cNvPr id="24" name="Text 17"/>
          <p:cNvSpPr/>
          <p:nvPr/>
        </p:nvSpPr>
        <p:spPr>
          <a:xfrm>
            <a:off x="6644640" y="4364736"/>
            <a:ext cx="5059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(SAST) deteta f-strings em queries. OWASP ZAP (DAST) valida em runtime. Security gates bloqueiam vulnerabilidades críticas.</a:t>
            </a:r>
            <a:endParaRPr lang="en-US" sz="146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06  ·  Alinhamento OWASP &amp; SSDLC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09728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4" name="Shape 2"/>
          <p:cNvSpPr/>
          <p:nvPr/>
        </p:nvSpPr>
        <p:spPr>
          <a:xfrm>
            <a:off x="609600" y="1219200"/>
            <a:ext cx="5242560" cy="2255520"/>
          </a:xfrm>
          <a:prstGeom prst="rect">
            <a:avLst/>
          </a:prstGeom>
          <a:solidFill>
            <a:srgbClr val="1E4191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5" name="Text 3"/>
          <p:cNvSpPr/>
          <p:nvPr/>
        </p:nvSpPr>
        <p:spPr>
          <a:xfrm>
            <a:off x="853440" y="1316736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· A03:2021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853440" y="182880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Injection é a 3ª ameaça mais crítica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853440" y="2231136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Demonstrado: auth bypass via SQLi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853440" y="2633472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Mitigação: ORM + input validation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853440" y="3035808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Validação: SAST (Bandit) + DAST (ZAP)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339840" y="1219200"/>
            <a:ext cx="5242560" cy="2255520"/>
          </a:xfrm>
          <a:prstGeom prst="rect">
            <a:avLst/>
          </a:prstGeom>
          <a:solidFill>
            <a:srgbClr val="1E4191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1" name="Text 9"/>
          <p:cNvSpPr/>
          <p:nvPr/>
        </p:nvSpPr>
        <p:spPr>
          <a:xfrm>
            <a:off x="6583680" y="1316736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SSDLC — Fase de Implementação &amp; Testes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182880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Requisitos: RBAC + autenticação segura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583680" y="2231136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Design: fronteiras de confiança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583680" y="2633472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Implementação: queries parametrizadas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6583680" y="3035808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Testes: SAST, DAST, pentest manual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609600" y="3633216"/>
            <a:ext cx="10972800" cy="512064"/>
          </a:xfrm>
          <a:prstGeom prst="rect">
            <a:avLst/>
          </a:prstGeom>
          <a:solidFill>
            <a:srgbClr val="1E4191"/>
          </a:solidFill>
          <a:ln w="12700">
            <a:solidFill>
              <a:srgbClr val="1E4191"/>
            </a:solidFill>
            <a:prstDash val="solid"/>
          </a:ln>
        </p:spPr>
        <p:txBody>
          <a:bodyPr/>
          <a:lstStyle/>
          <a:p>
            <a:endParaRPr lang="pt-PT" sz="240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681984"/>
            <a:ext cx="2194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23616" y="3681984"/>
            <a:ext cx="2438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559552" y="3681984"/>
            <a:ext cx="2438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95488" y="3681984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021824" y="3681984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SSDLC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9600" y="4169664"/>
            <a:ext cx="10972800" cy="63398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23" name="Text 21"/>
          <p:cNvSpPr/>
          <p:nvPr/>
        </p:nvSpPr>
        <p:spPr>
          <a:xfrm>
            <a:off x="731520" y="4242816"/>
            <a:ext cx="2194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3023616" y="4242816"/>
            <a:ext cx="2438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Input não sanitizado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5559552" y="4242816"/>
            <a:ext cx="2438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ORM parametrizado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8095488" y="4242816"/>
            <a:ext cx="1828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SAST + Pentest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10021824" y="4242816"/>
            <a:ext cx="1828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r>
              <a:rPr lang="en-US" sz="1333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ção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609600" y="4840224"/>
            <a:ext cx="10972800" cy="633984"/>
          </a:xfrm>
          <a:prstGeom prst="rect">
            <a:avLst/>
          </a:prstGeom>
          <a:solidFill>
            <a:srgbClr val="1E4191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29" name="Text 27"/>
          <p:cNvSpPr/>
          <p:nvPr/>
        </p:nvSpPr>
        <p:spPr>
          <a:xfrm>
            <a:off x="731520" y="4913376"/>
            <a:ext cx="2194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3023616" y="4913376"/>
            <a:ext cx="2438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vulnerável</a:t>
            </a:r>
            <a:endParaRPr lang="en-US" sz="1333" dirty="0"/>
          </a:p>
        </p:txBody>
      </p:sp>
      <p:sp>
        <p:nvSpPr>
          <p:cNvPr id="31" name="Text 29"/>
          <p:cNvSpPr/>
          <p:nvPr/>
        </p:nvSpPr>
        <p:spPr>
          <a:xfrm>
            <a:off x="5559552" y="4913376"/>
            <a:ext cx="2438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+ ORM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8095488" y="4913376"/>
            <a:ext cx="1828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10021824" y="4913376"/>
            <a:ext cx="1828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09600" y="5510784"/>
            <a:ext cx="10972800" cy="63398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35" name="Text 33"/>
          <p:cNvSpPr/>
          <p:nvPr/>
        </p:nvSpPr>
        <p:spPr>
          <a:xfrm>
            <a:off x="731520" y="5583936"/>
            <a:ext cx="2194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Exfiltração</a:t>
            </a:r>
            <a:endParaRPr lang="en-US" sz="1333" dirty="0"/>
          </a:p>
        </p:txBody>
      </p:sp>
      <p:sp>
        <p:nvSpPr>
          <p:cNvPr id="36" name="Text 34"/>
          <p:cNvSpPr/>
          <p:nvPr/>
        </p:nvSpPr>
        <p:spPr>
          <a:xfrm>
            <a:off x="3023616" y="5583936"/>
            <a:ext cx="2438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Acesso não restrito</a:t>
            </a:r>
            <a:endParaRPr lang="en-US" sz="1333" dirty="0"/>
          </a:p>
        </p:txBody>
      </p:sp>
      <p:sp>
        <p:nvSpPr>
          <p:cNvPr id="37" name="Text 35"/>
          <p:cNvSpPr/>
          <p:nvPr/>
        </p:nvSpPr>
        <p:spPr>
          <a:xfrm>
            <a:off x="5559552" y="5583936"/>
            <a:ext cx="2438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RBAC + JWT</a:t>
            </a:r>
            <a:endParaRPr lang="en-US" sz="1333" dirty="0"/>
          </a:p>
        </p:txBody>
      </p:sp>
      <p:sp>
        <p:nvSpPr>
          <p:cNvPr id="38" name="Text 36"/>
          <p:cNvSpPr/>
          <p:nvPr/>
        </p:nvSpPr>
        <p:spPr>
          <a:xfrm>
            <a:off x="8095488" y="5583936"/>
            <a:ext cx="1828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autoria.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10021824" y="5583936"/>
            <a:ext cx="1828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 / Op.</a:t>
            </a:r>
            <a:endParaRPr lang="en-US" sz="133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19283"/>
          </a:xfrm>
          <a:prstGeom prst="rect">
            <a:avLst/>
          </a:prstGeom>
          <a:solidFill>
            <a:srgbClr val="1E4191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419283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47472" y="237744"/>
            <a:ext cx="792480" cy="79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1120" y="121920"/>
            <a:ext cx="1036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41120" y="853440"/>
            <a:ext cx="10363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· MedPortal · DSS 2025/26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09600" y="1767840"/>
            <a:ext cx="5364480" cy="1950720"/>
          </a:xfrm>
          <a:prstGeom prst="rect">
            <a:avLst/>
          </a:prstGeom>
          <a:solidFill>
            <a:srgbClr val="1E4191"/>
          </a:solidFill>
          <a:ln w="1270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8" name="Shape 5"/>
          <p:cNvSpPr/>
          <p:nvPr/>
        </p:nvSpPr>
        <p:spPr>
          <a:xfrm>
            <a:off x="609600" y="1767840"/>
            <a:ext cx="97536" cy="1950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9" name="Text 6"/>
          <p:cNvSpPr/>
          <p:nvPr/>
        </p:nvSpPr>
        <p:spPr>
          <a:xfrm>
            <a:off x="853440" y="186537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 Real e Crítica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853440" y="2474976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A03:2021 OWASP — SQL Injection demonstrado com sucesso no ambiente hospitalar simulado, contornando autenticação com ' OR '1'='1.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6400800" y="1767840"/>
            <a:ext cx="5364480" cy="1950720"/>
          </a:xfrm>
          <a:prstGeom prst="rect">
            <a:avLst/>
          </a:prstGeom>
          <a:solidFill>
            <a:srgbClr val="1E4191"/>
          </a:solidFill>
          <a:ln w="1270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12" name="Shape 9"/>
          <p:cNvSpPr/>
          <p:nvPr/>
        </p:nvSpPr>
        <p:spPr>
          <a:xfrm>
            <a:off x="6400800" y="1767840"/>
            <a:ext cx="97536" cy="1950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3" name="Text 10"/>
          <p:cNvSpPr/>
          <p:nvPr/>
        </p:nvSpPr>
        <p:spPr>
          <a:xfrm>
            <a:off x="6644640" y="186537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Elevado em Contexto Hospitalar</a:t>
            </a:r>
            <a:endParaRPr lang="en-US" sz="1733" dirty="0"/>
          </a:p>
        </p:txBody>
      </p:sp>
      <p:sp>
        <p:nvSpPr>
          <p:cNvPr id="14" name="Text 11"/>
          <p:cNvSpPr/>
          <p:nvPr/>
        </p:nvSpPr>
        <p:spPr>
          <a:xfrm>
            <a:off x="6644640" y="2474976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de dados clínicos de todos os pacientes registados — violação de confidencialidade e integridade dos dados.</a:t>
            </a:r>
            <a:endParaRPr lang="en-US" sz="1467" dirty="0"/>
          </a:p>
        </p:txBody>
      </p:sp>
      <p:sp>
        <p:nvSpPr>
          <p:cNvPr id="15" name="Shape 12"/>
          <p:cNvSpPr/>
          <p:nvPr/>
        </p:nvSpPr>
        <p:spPr>
          <a:xfrm>
            <a:off x="609600" y="4023360"/>
            <a:ext cx="5364480" cy="1950720"/>
          </a:xfrm>
          <a:prstGeom prst="rect">
            <a:avLst/>
          </a:prstGeom>
          <a:solidFill>
            <a:srgbClr val="1E4191"/>
          </a:solidFill>
          <a:ln w="12700">
            <a:solidFill>
              <a:srgbClr val="2DC653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16" name="Shape 13"/>
          <p:cNvSpPr/>
          <p:nvPr/>
        </p:nvSpPr>
        <p:spPr>
          <a:xfrm>
            <a:off x="609600" y="4023360"/>
            <a:ext cx="97536" cy="1950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7" name="Text 14"/>
          <p:cNvSpPr/>
          <p:nvPr/>
        </p:nvSpPr>
        <p:spPr>
          <a:xfrm>
            <a:off x="853440" y="412089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 Eficaz com ORM</a:t>
            </a:r>
            <a:endParaRPr lang="en-US" sz="1733" dirty="0"/>
          </a:p>
        </p:txBody>
      </p:sp>
      <p:sp>
        <p:nvSpPr>
          <p:cNvPr id="18" name="Text 15"/>
          <p:cNvSpPr/>
          <p:nvPr/>
        </p:nvSpPr>
        <p:spPr>
          <a:xfrm>
            <a:off x="853440" y="4730496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elimina a vulnerabilidade tratando o input como dado e nunca como código SQL. Zero custo adicional de desenvolvimento.</a:t>
            </a:r>
            <a:endParaRPr lang="en-US" sz="1467" dirty="0"/>
          </a:p>
        </p:txBody>
      </p:sp>
      <p:sp>
        <p:nvSpPr>
          <p:cNvPr id="19" name="Shape 16"/>
          <p:cNvSpPr/>
          <p:nvPr/>
        </p:nvSpPr>
        <p:spPr>
          <a:xfrm>
            <a:off x="6400800" y="4023360"/>
            <a:ext cx="5364480" cy="1950720"/>
          </a:xfrm>
          <a:prstGeom prst="rect">
            <a:avLst/>
          </a:prstGeom>
          <a:solidFill>
            <a:srgbClr val="1E4191"/>
          </a:solidFill>
          <a:ln w="12700">
            <a:solidFill>
              <a:srgbClr val="457B9D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PT" sz="2400"/>
          </a:p>
        </p:txBody>
      </p:sp>
      <p:sp>
        <p:nvSpPr>
          <p:cNvPr id="20" name="Shape 17"/>
          <p:cNvSpPr/>
          <p:nvPr/>
        </p:nvSpPr>
        <p:spPr>
          <a:xfrm>
            <a:off x="6400800" y="4023360"/>
            <a:ext cx="97536" cy="19507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21" name="Text 18"/>
          <p:cNvSpPr/>
          <p:nvPr/>
        </p:nvSpPr>
        <p:spPr>
          <a:xfrm>
            <a:off x="6644640" y="412089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SSDLC Integrado</a:t>
            </a:r>
            <a:endParaRPr lang="en-US" sz="1733" dirty="0"/>
          </a:p>
        </p:txBody>
      </p:sp>
      <p:sp>
        <p:nvSpPr>
          <p:cNvPr id="22" name="Text 19"/>
          <p:cNvSpPr/>
          <p:nvPr/>
        </p:nvSpPr>
        <p:spPr>
          <a:xfrm>
            <a:off x="6644640" y="4730496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é aplicada na fase de Implementação e validada por SAST (Bandit) + DAST (ZAP) no pipeline DevSecOps.</a:t>
            </a:r>
            <a:endParaRPr lang="en-US" sz="1467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-0.0001574803"/>
  <p:tag name="ORIGTOP" val="150.1076"/>
  <p:tag name="ORIGHEIGHT" val="379.1423"/>
  <p:tag name="ORIGWIDTH" val="427.0001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1086</Words>
  <Application>Microsoft Office PowerPoint</Application>
  <PresentationFormat>Ecrã Panorâmico</PresentationFormat>
  <Paragraphs>180</Paragraphs>
  <Slides>13</Slides>
  <Notes>13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Luís Salazar</dc:creator>
  <cp:lastModifiedBy>Luís Salazar</cp:lastModifiedBy>
  <cp:revision>3</cp:revision>
  <dcterms:created xsi:type="dcterms:W3CDTF">2026-04-22T18:14:08Z</dcterms:created>
  <dcterms:modified xsi:type="dcterms:W3CDTF">2026-04-22T22:18:18Z</dcterms:modified>
</cp:coreProperties>
</file>